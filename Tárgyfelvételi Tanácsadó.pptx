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Inter"/>
      <p:regular r:id="rId15"/>
      <p:bold r:id="rId16"/>
      <p:boldItalic r:id="rId1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font" Target="fonts/Font_1_Inter_Regular.fntdata"/><Relationship Id="rId16" Type="http://schemas.openxmlformats.org/officeDocument/2006/relationships/font" Target="fonts/Font_2_Inter_Bold.fntdata"/><Relationship Id="rId17" Type="http://schemas.openxmlformats.org/officeDocument/2006/relationships/font" Target="fonts/Font_3_Inter_BoldItalic.fntdata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E8369CD-DCB5-42A4-8B1D-4567405C8CD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D1F30B8-7F60-4782-B287-BA39DD644C1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9ACF4D1-63CD-483B-AC0C-B70158DF604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070CBF-4C1F-4BC5-B992-DBBF3536E16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81D41D-3FBF-4924-8B4D-F14D2CB29F4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hu-HU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AE4CA76-9046-4818-A0AA-E06C05B1479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D9577A-B0DC-4441-B5C0-272CC058F51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341506-4B67-4F5E-A73E-32E360212A6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0B0187F-16EF-4C10-B9EB-DC74C098747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804EC2-310D-462E-A7DA-50368CF90B7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hu-H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Címszöveg formátumának szerkesztése</a:t>
            </a:r>
            <a:endParaRPr lang="hu-H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0" algn="l">
              <a:buNone/>
            </a:pPr>
            <a:r>
              <a:rPr lang="hu-H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Kattintson duplán kép beillesztéséhez</a:t>
            </a: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Vázlatszöveg formátumának szerkesztése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Második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Harmadik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Negyedik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Ötödik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Hatodik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Hetedik vázlatszint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&lt;dátum/idő&gt;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C91EE6-6B8D-45C6-9F40-E25AE30572C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&lt;szám&gt;</a:t>
            </a:fld>
            <a:endParaRPr lang="hu-H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3"/>
          <p:cNvSpPr/>
          <p:nvPr/>
        </p:nvSpPr>
        <p:spPr>
          <a:xfrm>
            <a:off x="762120" y="3879360"/>
            <a:ext cx="456840" cy="280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6;p13"/>
          <p:cNvSpPr/>
          <p:nvPr/>
        </p:nvSpPr>
        <p:spPr>
          <a:xfrm>
            <a:off x="762120" y="2568960"/>
            <a:ext cx="106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8FAFC"/>
                </a:solidFill>
                <a:effectLst/>
                <a:uFillTx/>
                <a:latin typeface="Inter"/>
                <a:ea typeface="Inter"/>
              </a:rPr>
              <a:t>Tárgyfelvételi Tanácsadó</a:t>
            </a:r>
            <a:endParaRPr lang="hu-H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7;p13"/>
          <p:cNvSpPr/>
          <p:nvPr/>
        </p:nvSpPr>
        <p:spPr>
          <a:xfrm>
            <a:off x="762120" y="3308040"/>
            <a:ext cx="8334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Inter"/>
                <a:ea typeface="Inter"/>
              </a:rPr>
              <a:t>Döntéshozó és szemantikus ajánlórendszer 5 integrált adattárral</a:t>
            </a:r>
            <a:endParaRPr lang="hu-H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8;p13"/>
          <p:cNvSpPr/>
          <p:nvPr/>
        </p:nvSpPr>
        <p:spPr>
          <a:xfrm>
            <a:off x="762120" y="4174920"/>
            <a:ext cx="114296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Inter"/>
                <a:ea typeface="Inter"/>
              </a:rPr>
              <a:t>Szerző: Tusnádi Szabolcs</a:t>
            </a:r>
            <a:endParaRPr lang="hu-H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9;p13"/>
          <p:cNvSpPr/>
          <p:nvPr/>
        </p:nvSpPr>
        <p:spPr>
          <a:xfrm>
            <a:off x="762120" y="4441320"/>
            <a:ext cx="114296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Stack: PostgreSQL 16 (pgvector), MongoDB 7.0, Redis 7.2, Neo4j 5.20, Qdrant 1.9, Python 3.14</a:t>
            </a:r>
            <a:endParaRPr lang="hu-H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94;p14"/>
          <p:cNvSpPr/>
          <p:nvPr/>
        </p:nvSpPr>
        <p:spPr>
          <a:xfrm>
            <a:off x="609480" y="2481480"/>
            <a:ext cx="5333760" cy="2489040"/>
          </a:xfrm>
          <a:prstGeom prst="roundRect">
            <a:avLst>
              <a:gd name="adj" fmla="val 3061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5;p14"/>
          <p:cNvSpPr/>
          <p:nvPr/>
        </p:nvSpPr>
        <p:spPr>
          <a:xfrm>
            <a:off x="6248520" y="2481480"/>
            <a:ext cx="5333760" cy="2489040"/>
          </a:xfrm>
          <a:prstGeom prst="roundRect">
            <a:avLst>
              <a:gd name="adj" fmla="val 3061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6;p14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Miért nem elég egyetlen adatbázis?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7;p14"/>
          <p:cNvSpPr/>
          <p:nvPr/>
        </p:nvSpPr>
        <p:spPr>
          <a:xfrm>
            <a:off x="885960" y="2757600"/>
            <a:ext cx="6275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DC2626"/>
                </a:solidFill>
                <a:effectLst/>
                <a:uFillTx/>
                <a:latin typeface="Inter"/>
                <a:ea typeface="Inter"/>
              </a:rPr>
              <a:t>Egyedi Paradigmák Korlátai</a:t>
            </a:r>
            <a:endParaRPr lang="hu-H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8;p14"/>
          <p:cNvSpPr/>
          <p:nvPr/>
        </p:nvSpPr>
        <p:spPr>
          <a:xfrm>
            <a:off x="885960" y="3110040"/>
            <a:ext cx="48765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Relációs SQL: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Rekurzív előfeltételi DAG gráfok lekérdezése CTE-kkel rendkívül lassú.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9;p14"/>
          <p:cNvSpPr/>
          <p:nvPr/>
        </p:nvSpPr>
        <p:spPr>
          <a:xfrm>
            <a:off x="885960" y="3688920"/>
            <a:ext cx="48765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Dokumentumtár: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Polimorf tantárgyakhoz kiváló, de hiányzik a szigorú férőhely-tranzakció.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00;p14"/>
          <p:cNvSpPr/>
          <p:nvPr/>
        </p:nvSpPr>
        <p:spPr>
          <a:xfrm>
            <a:off x="885960" y="4267800"/>
            <a:ext cx="48765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Gráfadatbázis: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Utakhoz optimális, de vektoros számításokra és sessionökre alkalmatlan.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1;p14"/>
          <p:cNvSpPr/>
          <p:nvPr/>
        </p:nvSpPr>
        <p:spPr>
          <a:xfrm>
            <a:off x="6524640" y="2757600"/>
            <a:ext cx="5667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A Poliglott Megoldás</a:t>
            </a:r>
            <a:endParaRPr lang="hu-H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2;p14"/>
          <p:cNvSpPr/>
          <p:nvPr/>
        </p:nvSpPr>
        <p:spPr>
          <a:xfrm>
            <a:off x="6524640" y="3110040"/>
            <a:ext cx="487656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Hiteles Források (SoR):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PostgreSQL (üzleti entitások) és MongoDB (tantárgyi syllabusok).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3;p14"/>
          <p:cNvSpPr/>
          <p:nvPr/>
        </p:nvSpPr>
        <p:spPr>
          <a:xfrm>
            <a:off x="6524640" y="3688920"/>
            <a:ext cx="487656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Származtatott Adattárak: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Redis (cache), Neo4j (DAG gráf), pgvector és Qdrant.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4;p14"/>
          <p:cNvSpPr/>
          <p:nvPr/>
        </p:nvSpPr>
        <p:spPr>
          <a:xfrm>
            <a:off x="6524640" y="4267800"/>
            <a:ext cx="487656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39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Döntési csővezeték:</a:t>
            </a: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Minden döntésnél az összes szükséges tár párhuzamosan validál.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09;p15"/>
          <p:cNvSpPr/>
          <p:nvPr/>
        </p:nvSpPr>
        <p:spPr>
          <a:xfrm>
            <a:off x="609480" y="2945160"/>
            <a:ext cx="2072160" cy="156168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10;p15"/>
          <p:cNvSpPr/>
          <p:nvPr/>
        </p:nvSpPr>
        <p:spPr>
          <a:xfrm>
            <a:off x="2834640" y="2945160"/>
            <a:ext cx="2072160" cy="156168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11;p15"/>
          <p:cNvSpPr/>
          <p:nvPr/>
        </p:nvSpPr>
        <p:spPr>
          <a:xfrm>
            <a:off x="5059440" y="2945160"/>
            <a:ext cx="2072160" cy="156168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2;p15"/>
          <p:cNvSpPr/>
          <p:nvPr/>
        </p:nvSpPr>
        <p:spPr>
          <a:xfrm>
            <a:off x="7284600" y="2945160"/>
            <a:ext cx="2072160" cy="156168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3;p15"/>
          <p:cNvSpPr/>
          <p:nvPr/>
        </p:nvSpPr>
        <p:spPr>
          <a:xfrm>
            <a:off x="9509400" y="2945160"/>
            <a:ext cx="2072160" cy="156168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4;p15"/>
          <p:cNvSpPr/>
          <p:nvPr/>
        </p:nvSpPr>
        <p:spPr>
          <a:xfrm>
            <a:off x="609480" y="457200"/>
            <a:ext cx="115819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Az adattárak szerepe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5;p15"/>
          <p:cNvSpPr/>
          <p:nvPr/>
        </p:nvSpPr>
        <p:spPr>
          <a:xfrm>
            <a:off x="809640" y="3183120"/>
            <a:ext cx="219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PostgreSQL</a:t>
            </a:r>
            <a:endParaRPr lang="hu-H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6;p15"/>
          <p:cNvSpPr/>
          <p:nvPr/>
        </p:nvSpPr>
        <p:spPr>
          <a:xfrm>
            <a:off x="809640" y="3468960"/>
            <a:ext cx="17676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ACID tranzakciók és sorszintű zárolás a túljelentkezés kizárására.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7;p15"/>
          <p:cNvSpPr/>
          <p:nvPr/>
        </p:nvSpPr>
        <p:spPr>
          <a:xfrm>
            <a:off x="3034440" y="3183120"/>
            <a:ext cx="219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MongoDB</a:t>
            </a:r>
            <a:endParaRPr lang="hu-H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8;p15"/>
          <p:cNvSpPr/>
          <p:nvPr/>
        </p:nvSpPr>
        <p:spPr>
          <a:xfrm>
            <a:off x="3034440" y="3468960"/>
            <a:ext cx="17676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Sémamentes JSON dokumentumok heterogén tantárgyi követelményekhez.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9;p15"/>
          <p:cNvSpPr/>
          <p:nvPr/>
        </p:nvSpPr>
        <p:spPr>
          <a:xfrm>
            <a:off x="5259600" y="3183120"/>
            <a:ext cx="219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Redis</a:t>
            </a:r>
            <a:endParaRPr lang="hu-H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20;p15"/>
          <p:cNvSpPr/>
          <p:nvPr/>
        </p:nvSpPr>
        <p:spPr>
          <a:xfrm>
            <a:off x="5259600" y="3468960"/>
            <a:ext cx="17676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Memóriabeli tárgytervezés lapfrissítési túléléssel és TTL lejárattal.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1;p15"/>
          <p:cNvSpPr/>
          <p:nvPr/>
        </p:nvSpPr>
        <p:spPr>
          <a:xfrm>
            <a:off x="7484400" y="3183120"/>
            <a:ext cx="219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Neo4j</a:t>
            </a:r>
            <a:endParaRPr lang="hu-H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2;p15"/>
          <p:cNvSpPr/>
          <p:nvPr/>
        </p:nvSpPr>
        <p:spPr>
          <a:xfrm>
            <a:off x="7484400" y="3468960"/>
            <a:ext cx="176760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Előfeltételi láncok (DAG) és helyettesíthetőségek natív gráfbejárása.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3;p15"/>
          <p:cNvSpPr/>
          <p:nvPr/>
        </p:nvSpPr>
        <p:spPr>
          <a:xfrm>
            <a:off x="9709560" y="3183120"/>
            <a:ext cx="2194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pgvector / Qdrant</a:t>
            </a:r>
            <a:endParaRPr lang="hu-HU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4;p15"/>
          <p:cNvSpPr/>
          <p:nvPr/>
        </p:nvSpPr>
        <p:spPr>
          <a:xfrm>
            <a:off x="9709560" y="3468960"/>
            <a:ext cx="176760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384 dimenziós MiniLM beágyazások szemantikus szabad szöveges illesztésre.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129;p16"/>
          <p:cNvSpPr/>
          <p:nvPr/>
        </p:nvSpPr>
        <p:spPr>
          <a:xfrm>
            <a:off x="609480" y="2806920"/>
            <a:ext cx="3504960" cy="1837800"/>
          </a:xfrm>
          <a:prstGeom prst="roundRect">
            <a:avLst>
              <a:gd name="adj" fmla="val 414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30;p16"/>
          <p:cNvSpPr/>
          <p:nvPr/>
        </p:nvSpPr>
        <p:spPr>
          <a:xfrm>
            <a:off x="4343400" y="2873520"/>
            <a:ext cx="3504960" cy="1704600"/>
          </a:xfrm>
          <a:prstGeom prst="roundRect">
            <a:avLst>
              <a:gd name="adj" fmla="val 4469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1;p16"/>
          <p:cNvSpPr/>
          <p:nvPr/>
        </p:nvSpPr>
        <p:spPr>
          <a:xfrm>
            <a:off x="8077320" y="2940120"/>
            <a:ext cx="3504960" cy="157140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32;p16"/>
          <p:cNvSpPr/>
          <p:nvPr/>
        </p:nvSpPr>
        <p:spPr>
          <a:xfrm>
            <a:off x="809640" y="3292560"/>
            <a:ext cx="3104640" cy="894960"/>
          </a:xfrm>
          <a:prstGeom prst="roundRect">
            <a:avLst>
              <a:gd name="adj" fmla="val 6382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3;p16"/>
          <p:cNvSpPr/>
          <p:nvPr/>
        </p:nvSpPr>
        <p:spPr>
          <a:xfrm>
            <a:off x="4543560" y="3359520"/>
            <a:ext cx="3104640" cy="76176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4;p16"/>
          <p:cNvSpPr/>
          <p:nvPr/>
        </p:nvSpPr>
        <p:spPr>
          <a:xfrm>
            <a:off x="8277120" y="3426120"/>
            <a:ext cx="3104640" cy="628200"/>
          </a:xfrm>
          <a:prstGeom prst="roundRect">
            <a:avLst>
              <a:gd name="adj" fmla="val 909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5;p16"/>
          <p:cNvSpPr/>
          <p:nvPr/>
        </p:nvSpPr>
        <p:spPr>
          <a:xfrm>
            <a:off x="609480" y="457200"/>
            <a:ext cx="11581920" cy="4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Megvalósított lekérdezések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6;p16"/>
          <p:cNvSpPr/>
          <p:nvPr/>
        </p:nvSpPr>
        <p:spPr>
          <a:xfrm>
            <a:off x="809640" y="3007080"/>
            <a:ext cx="4075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PostgreSQL: Sorszintű zárolás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37;p16"/>
          <p:cNvSpPr/>
          <p:nvPr/>
        </p:nvSpPr>
        <p:spPr>
          <a:xfrm>
            <a:off x="923760" y="3407040"/>
            <a:ext cx="297144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SELECT capacity, seats_taken FROM sections WHERE id = $id FOR UPDATE; INSERT INTO enrolments ...; UPDATE sections SET seats_taken = ...;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38;p16"/>
          <p:cNvSpPr/>
          <p:nvPr/>
        </p:nvSpPr>
        <p:spPr>
          <a:xfrm>
            <a:off x="809640" y="4283280"/>
            <a:ext cx="3881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CHECK kényszer védi a kapacitást.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9;p16"/>
          <p:cNvSpPr/>
          <p:nvPr/>
        </p:nvSpPr>
        <p:spPr>
          <a:xfrm>
            <a:off x="4543560" y="3073680"/>
            <a:ext cx="4075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MongoDB: Polimorf szűrés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40;p16"/>
          <p:cNvSpPr/>
          <p:nvPr/>
        </p:nvSpPr>
        <p:spPr>
          <a:xfrm>
            <a:off x="4657680" y="3473640"/>
            <a:ext cx="29714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db.courses.find({ "has_lab": true, "has_exam": true });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1;p16"/>
          <p:cNvSpPr/>
          <p:nvPr/>
        </p:nvSpPr>
        <p:spPr>
          <a:xfrm>
            <a:off x="4543560" y="4216680"/>
            <a:ext cx="3881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72 ilyen kurzus van a katalógusban.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2;p16"/>
          <p:cNvSpPr/>
          <p:nvPr/>
        </p:nvSpPr>
        <p:spPr>
          <a:xfrm>
            <a:off x="8277120" y="3140280"/>
            <a:ext cx="3914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Neo4j: Legrövidebb lánc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3;p16"/>
          <p:cNvSpPr/>
          <p:nvPr/>
        </p:nvSpPr>
        <p:spPr>
          <a:xfrm>
            <a:off x="8391600" y="3540240"/>
            <a:ext cx="2971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MATCH p = shortestPath( (target)-[:REQUIRES*1..10]-&gt;(start) ) RETURN [n IN nodes(p) | n.code];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4;p16"/>
          <p:cNvSpPr/>
          <p:nvPr/>
        </p:nvSpPr>
        <p:spPr>
          <a:xfrm>
            <a:off x="8277120" y="4150080"/>
            <a:ext cx="38811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Ekvivalens tárgyakat is figyelembe vesz.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49;p17"/>
          <p:cNvGraphicFramePr/>
          <p:nvPr/>
        </p:nvGraphicFramePr>
        <p:xfrm>
          <a:off x="609480" y="2240280"/>
          <a:ext cx="10972440" cy="2895120"/>
        </p:xfrm>
        <a:graphic>
          <a:graphicData uri="http://schemas.openxmlformats.org/drawingml/2006/table">
            <a:tbl>
              <a:tblPr/>
              <a:tblGrid>
                <a:gridCol w="571320"/>
                <a:gridCol w="3994200"/>
                <a:gridCol w="2755440"/>
                <a:gridCol w="2755800"/>
                <a:gridCol w="895320"/>
              </a:tblGrid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#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Teszteset leírása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Elvárt döntés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Valós döntés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Eredmény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CS101 megvan, jelentkezik CS102-re szabad helyekkel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2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CS202 hiányzik, jelentkezik CS301-re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3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Jelentkezés 100%-ig betelt szekcióra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REJECTED_SECTION_FULL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REJECTED_SECTION_FULL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4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Már beiratkozott szekció ismételt felvétele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REJECTED_ALREADY_ENROLLED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REJECTED_ALREADY_ENROLLED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5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Többugrásos előfeltétel teljesítve (CS101, CS102)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6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Többugrásos lánc megszakadva (CS102 hiányzik)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18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7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Ekvivalens tárgy elvégezve (MATH201 helyett MATH205)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50;p17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Jogosultsági tesztek 1–7 (Előfeltételek és Kapacitás)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" name="Google Shape;155;p18"/>
          <p:cNvGraphicFramePr/>
          <p:nvPr/>
        </p:nvGraphicFramePr>
        <p:xfrm>
          <a:off x="609480" y="2273400"/>
          <a:ext cx="10972440" cy="2862360"/>
        </p:xfrm>
        <a:graphic>
          <a:graphicData uri="http://schemas.openxmlformats.org/drawingml/2006/table">
            <a:tbl>
              <a:tblPr/>
              <a:tblGrid>
                <a:gridCol w="475920"/>
                <a:gridCol w="4058280"/>
                <a:gridCol w="2814120"/>
                <a:gridCol w="2814120"/>
                <a:gridCol w="809280"/>
              </a:tblGrid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#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Teszteset leírása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Elvárt döntés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Valós döntés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Eredmény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8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Elsőéves előképzettség nélkül bevezető CS101-re jelentkezik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9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Elsőéves CS101-re jelentkezne, de a kurzus teljesen betelt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REJECTED_SECTION_FULL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REJECTED_SECTION_FULL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Hallgató felvette az előfeltételt, de 'F' jegyet kapott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11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Hallgató az előfeltételt sikeres 'C' jeggyel végezte el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0284C7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12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Konkurens versenyhelyzet: küzdelem az utolsó szabad helyért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CONCURRENT_ONE_COMMITS_ONE_FAILS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CONCURRENT_ONE_COMMITS_ONE_FAILS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13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Jelentkezés érvényes, nyári kurzusra szabad férőhellyel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14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Két előfeltétel szükséges, a hallgató csak 1-et teljesített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REJECTED_PREREQUISITES_NOT_MET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42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15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Két előfeltétel szükséges, a hallgató mindkettőt teljesítette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APPROVED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80" b="1" u="none" strike="noStrike">
                          <a:solidFill>
                            <a:srgbClr val="16A34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PASS</a:t>
                      </a:r>
                      <a:endParaRPr lang="hu-HU" sz="9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56;p18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Jogosultsági tesztek 8–15 (Jegyek, Konkurencia és Szabályok)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61;p19"/>
          <p:cNvSpPr/>
          <p:nvPr/>
        </p:nvSpPr>
        <p:spPr>
          <a:xfrm>
            <a:off x="609480" y="4578480"/>
            <a:ext cx="10972440" cy="66636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62;p19"/>
          <p:cNvSpPr/>
          <p:nvPr/>
        </p:nvSpPr>
        <p:spPr>
          <a:xfrm>
            <a:off x="609480" y="4578480"/>
            <a:ext cx="37800" cy="66636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anchor="ctr">
            <a:noAutofit/>
          </a:bodyPr>
          <a:p>
            <a:pPr/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5" name="Google Shape;163;p19"/>
          <p:cNvGraphicFramePr/>
          <p:nvPr/>
        </p:nvGraphicFramePr>
        <p:xfrm>
          <a:off x="609480" y="2206800"/>
          <a:ext cx="10972440" cy="2142720"/>
        </p:xfrm>
        <a:graphic>
          <a:graphicData uri="http://schemas.openxmlformats.org/drawingml/2006/table">
            <a:tbl>
              <a:tblPr/>
              <a:tblGrid>
                <a:gridCol w="2661480"/>
                <a:gridCol w="2306520"/>
                <a:gridCol w="2148840"/>
                <a:gridCol w="3854880"/>
              </a:tblGrid>
              <a:tr h="4284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Metrika (20 címkézett kérdés)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pgvector (PostgreSQL 16)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Qdrant (Dedikált motor)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Értékelés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Mean Recall@5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1.000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1.000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 célkurzus mindig a top-5 találatban volt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Mean MRR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1.000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1.000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A releváns kurzus mindig 1. helyen szerepelt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Mean ANN Recall@10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1.000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1.000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HNSW nem veszített az exact scannel szemben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40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Inter-System Top-10 Overlap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10.0 / 10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10.0 / 10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  <a:ea typeface="Inter"/>
                        </a:rPr>
                        <a:t>Teljes set-congruence a két motor között</a:t>
                      </a:r>
                      <a:endParaRPr lang="hu-H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" name="Google Shape;164;p19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Szemantikus keresés: pgvector vs. Qdrant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65;p19"/>
          <p:cNvSpPr/>
          <p:nvPr/>
        </p:nvSpPr>
        <p:spPr>
          <a:xfrm>
            <a:off x="838080" y="4731120"/>
            <a:ext cx="106484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Miért lett mindegyik 1.00?</a:t>
            </a: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A 300 kurzusos katalógus és a címkézett érdeklődési témák (pl. neurális hálók, grafika, fordítóprogramok) jól szeparált klasztereket képeznek a 384 dimenziós MiniLM beágyazási térben.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70;p20"/>
          <p:cNvSpPr/>
          <p:nvPr/>
        </p:nvSpPr>
        <p:spPr>
          <a:xfrm>
            <a:off x="609480" y="2468880"/>
            <a:ext cx="5333760" cy="2514240"/>
          </a:xfrm>
          <a:prstGeom prst="roundRect">
            <a:avLst>
              <a:gd name="adj" fmla="val 303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71;p20"/>
          <p:cNvSpPr/>
          <p:nvPr/>
        </p:nvSpPr>
        <p:spPr>
          <a:xfrm>
            <a:off x="6248520" y="2568600"/>
            <a:ext cx="5333760" cy="2314080"/>
          </a:xfrm>
          <a:prstGeom prst="roundRect">
            <a:avLst>
              <a:gd name="adj" fmla="val 3292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72;p20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Ritka részhalmazok szűrése (~5% Nyári kurzusok)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73;p20"/>
          <p:cNvSpPr/>
          <p:nvPr/>
        </p:nvSpPr>
        <p:spPr>
          <a:xfrm>
            <a:off x="923760" y="2783160"/>
            <a:ext cx="6175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pgvector: Relaxed Iterative Scan</a:t>
            </a:r>
            <a:endParaRPr lang="hu-H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74;p20"/>
          <p:cNvSpPr/>
          <p:nvPr/>
        </p:nvSpPr>
        <p:spPr>
          <a:xfrm>
            <a:off x="923760" y="3144960"/>
            <a:ext cx="48002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 `hnsw.iterative_scan = 'relaxed'` beállítással (ef_search = 60) a motor tovább pásztázza a szomszédos csúcsokat, ha a szűrő kizárja a pontokat.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75;p20"/>
          <p:cNvSpPr/>
          <p:nvPr/>
        </p:nvSpPr>
        <p:spPr>
          <a:xfrm>
            <a:off x="923760" y="3954600"/>
            <a:ext cx="5881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2.70 ms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(ANN Recall: 1.00)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76;p20"/>
          <p:cNvSpPr/>
          <p:nvPr/>
        </p:nvSpPr>
        <p:spPr>
          <a:xfrm>
            <a:off x="923760" y="4507200"/>
            <a:ext cx="58813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Találatok: 10 / 10 darab visszaadva.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77;p20"/>
          <p:cNvSpPr/>
          <p:nvPr/>
        </p:nvSpPr>
        <p:spPr>
          <a:xfrm>
            <a:off x="6562800" y="2883240"/>
            <a:ext cx="5628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Qdrant: Indexelt Payload Filter</a:t>
            </a:r>
            <a:endParaRPr lang="hu-H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78;p20"/>
          <p:cNvSpPr/>
          <p:nvPr/>
        </p:nvSpPr>
        <p:spPr>
          <a:xfrm>
            <a:off x="6562800" y="3245040"/>
            <a:ext cx="4800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 `semester` kulcsszóra létrehozott explicit index (hnsw_ef = 64) révén az előszűrés a gráfbelépési pontok kijelölése előtt lefut.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9;p20"/>
          <p:cNvSpPr/>
          <p:nvPr/>
        </p:nvSpPr>
        <p:spPr>
          <a:xfrm>
            <a:off x="6562800" y="3854520"/>
            <a:ext cx="56289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2.85 ms </a:t>
            </a:r>
            <a:r>
              <a:rPr lang="en-US" sz="120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(ANN Recall: 1.00)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80;p20"/>
          <p:cNvSpPr/>
          <p:nvPr/>
        </p:nvSpPr>
        <p:spPr>
          <a:xfrm>
            <a:off x="6562800" y="4407120"/>
            <a:ext cx="5628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Találatok: 10 / 10 darab visszaadva.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85;p21"/>
          <p:cNvSpPr/>
          <p:nvPr/>
        </p:nvSpPr>
        <p:spPr>
          <a:xfrm>
            <a:off x="609480" y="4430880"/>
            <a:ext cx="10972440" cy="5713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86;p21"/>
          <p:cNvSpPr/>
          <p:nvPr/>
        </p:nvSpPr>
        <p:spPr>
          <a:xfrm>
            <a:off x="609480" y="2449800"/>
            <a:ext cx="5371920" cy="179028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87;p21"/>
          <p:cNvSpPr/>
          <p:nvPr/>
        </p:nvSpPr>
        <p:spPr>
          <a:xfrm>
            <a:off x="6210360" y="2449800"/>
            <a:ext cx="5371920" cy="179028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88;p21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Hibrid lekérdezés: Integrált SQL vs. Kétlépcsős RPC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9;p21"/>
          <p:cNvSpPr/>
          <p:nvPr/>
        </p:nvSpPr>
        <p:spPr>
          <a:xfrm>
            <a:off x="762120" y="4583160"/>
            <a:ext cx="107629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rial"/>
                <a:ea typeface="Arial"/>
              </a:rPr>
              <a:t>SELECT c.code, c.title, (s.capacity - s.seats_taken) AS remaining FROM course_embeddings e JOIN courses c ON e.course_id = c.id JOIN sections s ON s.course_id = c.id WHERE s.seats_taken &lt; s.capacity AND c.semester = %(semester)s ORDER BY e.embedding &lt;=&gt; %(query_vector)s::vector LIMIT 5;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90;p21"/>
          <p:cNvSpPr/>
          <p:nvPr/>
        </p:nvSpPr>
        <p:spPr>
          <a:xfrm>
            <a:off x="847800" y="2687760"/>
            <a:ext cx="6425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pgvector SQL JOIN</a:t>
            </a:r>
            <a:endParaRPr lang="hu-H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91;p21"/>
          <p:cNvSpPr/>
          <p:nvPr/>
        </p:nvSpPr>
        <p:spPr>
          <a:xfrm>
            <a:off x="847800" y="2964240"/>
            <a:ext cx="49906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Egyetlen relációs SQL összekapcsolja az embeddingeket és a szabad férőhelyeket.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92;p21"/>
          <p:cNvSpPr/>
          <p:nvPr/>
        </p:nvSpPr>
        <p:spPr>
          <a:xfrm>
            <a:off x="847800" y="3440160"/>
            <a:ext cx="61192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6A34A"/>
                </a:solidFill>
                <a:effectLst/>
                <a:uFillTx/>
                <a:latin typeface="Inter"/>
                <a:ea typeface="Inter"/>
              </a:rPr>
              <a:t>2.82 ms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(1 hálózati kör)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93;p21"/>
          <p:cNvSpPr/>
          <p:nvPr/>
        </p:nvSpPr>
        <p:spPr>
          <a:xfrm>
            <a:off x="847800" y="3840480"/>
            <a:ext cx="61192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Garantált azonnali tranzakciós konzisztencia.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94;p21"/>
          <p:cNvSpPr/>
          <p:nvPr/>
        </p:nvSpPr>
        <p:spPr>
          <a:xfrm>
            <a:off x="6448320" y="2687760"/>
            <a:ext cx="5743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Qdrant Kétlépcsős Keresés</a:t>
            </a:r>
            <a:endParaRPr lang="hu-H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95;p21"/>
          <p:cNvSpPr/>
          <p:nvPr/>
        </p:nvSpPr>
        <p:spPr>
          <a:xfrm>
            <a:off x="6448320" y="2964240"/>
            <a:ext cx="49906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1. RPC hívás vektoros keresésre; 2. SQL lekérdezés a szabad helyek ellenőrzésére.</a:t>
            </a:r>
            <a:endParaRPr lang="hu-HU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6;p21"/>
          <p:cNvSpPr/>
          <p:nvPr/>
        </p:nvSpPr>
        <p:spPr>
          <a:xfrm>
            <a:off x="6448320" y="3440160"/>
            <a:ext cx="5743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EA580C"/>
                </a:solidFill>
                <a:effectLst/>
                <a:uFillTx/>
                <a:latin typeface="Inter"/>
                <a:ea typeface="Inter"/>
              </a:rPr>
              <a:t>5.06 ms </a:t>
            </a: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Inter"/>
                <a:ea typeface="Inter"/>
              </a:rPr>
              <a:t>(2 hálózati kör)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7;p21"/>
          <p:cNvSpPr/>
          <p:nvPr/>
        </p:nvSpPr>
        <p:spPr>
          <a:xfrm>
            <a:off x="6448320" y="3840480"/>
            <a:ext cx="574308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Kockázat: a szabad hely betelhet a két hívás között.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02;p22"/>
          <p:cNvSpPr/>
          <p:nvPr/>
        </p:nvSpPr>
        <p:spPr>
          <a:xfrm>
            <a:off x="609480" y="3083040"/>
            <a:ext cx="2628720" cy="1285560"/>
          </a:xfrm>
          <a:prstGeom prst="roundRect">
            <a:avLst>
              <a:gd name="adj" fmla="val 592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03;p22"/>
          <p:cNvSpPr/>
          <p:nvPr/>
        </p:nvSpPr>
        <p:spPr>
          <a:xfrm>
            <a:off x="3390840" y="3083040"/>
            <a:ext cx="2628720" cy="1285560"/>
          </a:xfrm>
          <a:prstGeom prst="roundRect">
            <a:avLst>
              <a:gd name="adj" fmla="val 5925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04;p22"/>
          <p:cNvSpPr/>
          <p:nvPr/>
        </p:nvSpPr>
        <p:spPr>
          <a:xfrm>
            <a:off x="6172200" y="3083040"/>
            <a:ext cx="2628720" cy="1285560"/>
          </a:xfrm>
          <a:prstGeom prst="roundRect">
            <a:avLst>
              <a:gd name="adj" fmla="val 5925"/>
            </a:avLst>
          </a:prstGeom>
          <a:solidFill>
            <a:srgbClr val="FEF2F2"/>
          </a:solidFill>
          <a:ln w="9525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205;p22"/>
          <p:cNvSpPr/>
          <p:nvPr/>
        </p:nvSpPr>
        <p:spPr>
          <a:xfrm>
            <a:off x="8953560" y="3083040"/>
            <a:ext cx="2628720" cy="1285560"/>
          </a:xfrm>
          <a:prstGeom prst="roundRect">
            <a:avLst>
              <a:gd name="adj" fmla="val 5925"/>
            </a:avLst>
          </a:prstGeom>
          <a:solidFill>
            <a:srgbClr val="F0FDF4"/>
          </a:solidFill>
          <a:ln w="9525">
            <a:solidFill>
              <a:srgbClr val="BBF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206;p22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Kereszt-adattár szinkronizáció (Cross-Store Update)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07;p22"/>
          <p:cNvSpPr/>
          <p:nvPr/>
        </p:nvSpPr>
        <p:spPr>
          <a:xfrm>
            <a:off x="790560" y="3321360"/>
            <a:ext cx="2833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1. ÁLLAPOT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08;p22"/>
          <p:cNvSpPr/>
          <p:nvPr/>
        </p:nvSpPr>
        <p:spPr>
          <a:xfrm>
            <a:off x="790560" y="3540240"/>
            <a:ext cx="2975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Kezdeti állapot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09;p22"/>
          <p:cNvSpPr/>
          <p:nvPr/>
        </p:nvSpPr>
        <p:spPr>
          <a:xfrm>
            <a:off x="790560" y="3807000"/>
            <a:ext cx="2361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Nincs CS202 jegy, Neo4j elutasítja a ráépülő CS301-et.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10;p22"/>
          <p:cNvSpPr/>
          <p:nvPr/>
        </p:nvSpPr>
        <p:spPr>
          <a:xfrm>
            <a:off x="3571920" y="3321360"/>
            <a:ext cx="2833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284C7"/>
                </a:solidFill>
                <a:effectLst/>
                <a:uFillTx/>
                <a:latin typeface="Inter"/>
                <a:ea typeface="Inter"/>
              </a:rPr>
              <a:t>2. ÁLLAPOT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11;p22"/>
          <p:cNvSpPr/>
          <p:nvPr/>
        </p:nvSpPr>
        <p:spPr>
          <a:xfrm>
            <a:off x="3571920" y="3540240"/>
            <a:ext cx="2975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PostgreSQL Mutáció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12;p22"/>
          <p:cNvSpPr/>
          <p:nvPr/>
        </p:nvSpPr>
        <p:spPr>
          <a:xfrm>
            <a:off x="3571920" y="3807000"/>
            <a:ext cx="2361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A hallgató 'A' jegyet kap a relációs SoR grades táblájában.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13;p22"/>
          <p:cNvSpPr/>
          <p:nvPr/>
        </p:nvSpPr>
        <p:spPr>
          <a:xfrm>
            <a:off x="6353280" y="3321360"/>
            <a:ext cx="2833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C2626"/>
                </a:solidFill>
                <a:effectLst/>
                <a:uFillTx/>
                <a:latin typeface="Inter"/>
                <a:ea typeface="Inter"/>
              </a:rPr>
              <a:t>3. ÁLLAPOT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14;p22"/>
          <p:cNvSpPr/>
          <p:nvPr/>
        </p:nvSpPr>
        <p:spPr>
          <a:xfrm>
            <a:off x="6353280" y="3540240"/>
            <a:ext cx="2975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991B1B"/>
                </a:solidFill>
                <a:effectLst/>
                <a:uFillTx/>
                <a:latin typeface="Inter"/>
                <a:ea typeface="Inter"/>
              </a:rPr>
              <a:t>Inkonzisztencia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15;p22"/>
          <p:cNvSpPr/>
          <p:nvPr/>
        </p:nvSpPr>
        <p:spPr>
          <a:xfrm>
            <a:off x="6353280" y="3807000"/>
            <a:ext cx="2361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F1D1D"/>
                </a:solidFill>
                <a:effectLst/>
                <a:uFillTx/>
                <a:latin typeface="Inter"/>
                <a:ea typeface="Inter"/>
              </a:rPr>
              <a:t>A Neo4j és Redis még a régi (stale) állapotot tükrözi.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16;p22"/>
          <p:cNvSpPr/>
          <p:nvPr/>
        </p:nvSpPr>
        <p:spPr>
          <a:xfrm>
            <a:off x="9134640" y="3321360"/>
            <a:ext cx="28332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6A34A"/>
                </a:solidFill>
                <a:effectLst/>
                <a:uFillTx/>
                <a:latin typeface="Inter"/>
                <a:ea typeface="Inter"/>
              </a:rPr>
              <a:t>4. ÁLLAPOT</a:t>
            </a:r>
            <a:endParaRPr lang="hu-H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217;p22"/>
          <p:cNvSpPr/>
          <p:nvPr/>
        </p:nvSpPr>
        <p:spPr>
          <a:xfrm>
            <a:off x="9134640" y="3540240"/>
            <a:ext cx="2975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4532D"/>
                </a:solidFill>
                <a:effectLst/>
                <a:uFillTx/>
                <a:latin typeface="Inter"/>
                <a:ea typeface="Inter"/>
              </a:rPr>
              <a:t>Szinkronizáció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18;p22"/>
          <p:cNvSpPr/>
          <p:nvPr/>
        </p:nvSpPr>
        <p:spPr>
          <a:xfrm>
            <a:off x="9134640" y="3807000"/>
            <a:ext cx="23619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6534"/>
                </a:solidFill>
                <a:effectLst/>
                <a:uFillTx/>
                <a:latin typeface="Inter"/>
                <a:ea typeface="Inter"/>
              </a:rPr>
              <a:t>COMPLETED él beírása, Redis cache törlés, metaadat frissítés.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223;p23"/>
          <p:cNvSpPr/>
          <p:nvPr/>
        </p:nvSpPr>
        <p:spPr>
          <a:xfrm>
            <a:off x="609480" y="2773440"/>
            <a:ext cx="5333760" cy="1904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24;p23"/>
          <p:cNvSpPr/>
          <p:nvPr/>
        </p:nvSpPr>
        <p:spPr>
          <a:xfrm>
            <a:off x="6248520" y="2773440"/>
            <a:ext cx="5333760" cy="1904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25;p23"/>
          <p:cNvSpPr/>
          <p:nvPr/>
        </p:nvSpPr>
        <p:spPr>
          <a:xfrm>
            <a:off x="609480" y="457200"/>
            <a:ext cx="11581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9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Részletes hibaeset-elemzés (Failure Cases)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26;p23"/>
          <p:cNvSpPr/>
          <p:nvPr/>
        </p:nvSpPr>
        <p:spPr>
          <a:xfrm>
            <a:off x="885960" y="3049920"/>
            <a:ext cx="6275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1. Konkurens túljelentkezés</a:t>
            </a:r>
            <a:endParaRPr lang="hu-H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27;p23"/>
          <p:cNvSpPr/>
          <p:nvPr/>
        </p:nvSpPr>
        <p:spPr>
          <a:xfrm>
            <a:off x="885960" y="3364200"/>
            <a:ext cx="487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Probléma: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Utolsó szabad helynél (9/10) két konkurens SELECT egyszerre látja a helyet, ami 11 fős túlfoglaláshoz vezetne zárolás nélkül.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28;p23"/>
          <p:cNvSpPr/>
          <p:nvPr/>
        </p:nvSpPr>
        <p:spPr>
          <a:xfrm>
            <a:off x="885960" y="3802320"/>
            <a:ext cx="487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Védelem: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`SELECT ... FOR UPDATE` sorzár szerializálja a kéréseket, a `CHECK (seats_taken &lt;= capacity)` integritási korlát elutasítja a 2. szálat.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29;p23"/>
          <p:cNvSpPr/>
          <p:nvPr/>
        </p:nvSpPr>
        <p:spPr>
          <a:xfrm>
            <a:off x="885960" y="4240440"/>
            <a:ext cx="5976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Inter"/>
                <a:ea typeface="Inter"/>
              </a:rPr>
              <a:t>Eredmény: 12. tesztben 1 commitál, 1 elutasítva.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0;p23"/>
          <p:cNvSpPr/>
          <p:nvPr/>
        </p:nvSpPr>
        <p:spPr>
          <a:xfrm>
            <a:off x="6524640" y="3049920"/>
            <a:ext cx="5667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  <a:ea typeface="Inter"/>
              </a:rPr>
              <a:t>2. HNSW Recall vesztés ritka szűrésnél</a:t>
            </a:r>
            <a:endParaRPr lang="hu-H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1;p23"/>
          <p:cNvSpPr/>
          <p:nvPr/>
        </p:nvSpPr>
        <p:spPr>
          <a:xfrm>
            <a:off x="6524640" y="3364200"/>
            <a:ext cx="487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Probléma: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  <a:ea typeface="Inter"/>
              </a:rPr>
              <a:t> Ha a feltétel a katalógus ~5%-ára igaz, az utószűrés (post-filtering) miatt a HNSW gráfkeresés hamar megáll, elveszítve a 10 találatot.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32;p23"/>
          <p:cNvSpPr/>
          <p:nvPr/>
        </p:nvSpPr>
        <p:spPr>
          <a:xfrm>
            <a:off x="6524640" y="3802320"/>
            <a:ext cx="4876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Védelem: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Inter"/>
                <a:ea typeface="Inter"/>
              </a:rPr>
              <a:t> pgvectorban `hnsw.iterative_scan = 'relaxed'`, Qdrantban kulcsszó alapú Payload Index a `semester` mezőre.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33;p23"/>
          <p:cNvSpPr/>
          <p:nvPr/>
        </p:nvSpPr>
        <p:spPr>
          <a:xfrm>
            <a:off x="6524640" y="4240440"/>
            <a:ext cx="5667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Inter"/>
                <a:ea typeface="Inter"/>
              </a:rPr>
              <a:t>Eredmény: Mindkét motorban helyreállt az 1.00 recall.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238;p24"/>
          <p:cNvSpPr/>
          <p:nvPr/>
        </p:nvSpPr>
        <p:spPr>
          <a:xfrm>
            <a:off x="5867280" y="4118400"/>
            <a:ext cx="456840" cy="28080"/>
          </a:xfrm>
          <a:prstGeom prst="rect">
            <a:avLst/>
          </a:prstGeom>
          <a:solidFill>
            <a:srgbClr val="38BD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pPr/>
            <a:endParaRPr lang="hu-H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40;p24"/>
          <p:cNvSpPr/>
          <p:nvPr/>
        </p:nvSpPr>
        <p:spPr>
          <a:xfrm>
            <a:off x="3026880" y="2644200"/>
            <a:ext cx="6138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19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8FAFC"/>
                </a:solidFill>
                <a:effectLst/>
                <a:uFillTx/>
                <a:latin typeface="Inter"/>
                <a:ea typeface="Inter"/>
              </a:rPr>
              <a:t>Köszönöm a figyelmet!</a:t>
            </a:r>
            <a:endParaRPr lang="hu-HU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hu-HU</dc:language>
  <cp:lastModifiedBy/>
  <dcterms:modified xsi:type="dcterms:W3CDTF">2026-10-25T19:28:12Z</dcterms:modified>
  <cp:revision>1</cp:revision>
  <dc:subject/>
  <dc:title/>
</cp:coreProperties>
</file>